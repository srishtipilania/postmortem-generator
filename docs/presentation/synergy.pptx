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slide" Target="slides/slide8.xml"/><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aleway-italic.fntdata"/><Relationship Id="rId6" Type="http://schemas.openxmlformats.org/officeDocument/2006/relationships/slide" Target="slides/slide1.xml"/><Relationship Id="rId18" Type="http://schemas.openxmlformats.org/officeDocument/2006/relationships/font" Target="fonts/Raleway-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9338fd67b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9338fd67b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9338fd67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9338fd67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9338fd67b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9338fd67b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9338fd67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f9338fd67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9338fd67b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f9338fd67b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9338fd67b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9338fd67b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9338fd67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f9338fd67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9338fd67b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9338fd67b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9338fd67b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9338fd67b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9338fd67b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f9338fd67b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900"/>
              <a:t>Problem statement </a:t>
            </a:r>
            <a:r>
              <a:rPr lang="en" sz="3900"/>
              <a:t>06-</a:t>
            </a:r>
            <a:endParaRPr sz="3900"/>
          </a:p>
          <a:p>
            <a:pPr indent="0" lvl="0" marL="0" rtl="0" algn="l">
              <a:lnSpc>
                <a:spcPct val="115000"/>
              </a:lnSpc>
              <a:spcBef>
                <a:spcPts val="0"/>
              </a:spcBef>
              <a:spcAft>
                <a:spcPts val="0"/>
              </a:spcAft>
              <a:buNone/>
            </a:pPr>
            <a:r>
              <a:rPr lang="en" sz="3200">
                <a:solidFill>
                  <a:srgbClr val="000000"/>
                </a:solidFill>
                <a:latin typeface="Arial"/>
                <a:ea typeface="Arial"/>
                <a:cs typeface="Arial"/>
                <a:sym typeface="Arial"/>
              </a:rPr>
              <a:t>Incident Postmortem Generator</a:t>
            </a:r>
            <a:endParaRPr sz="3200">
              <a:solidFill>
                <a:srgbClr val="000000"/>
              </a:solidFill>
              <a:latin typeface="Arial"/>
              <a:ea typeface="Arial"/>
              <a:cs typeface="Arial"/>
              <a:sym typeface="Arial"/>
            </a:endParaRPr>
          </a:p>
          <a:p>
            <a:pPr indent="0" lvl="0" marL="0" rtl="0" algn="l">
              <a:spcBef>
                <a:spcPts val="0"/>
              </a:spcBef>
              <a:spcAft>
                <a:spcPts val="0"/>
              </a:spcAft>
              <a:buNone/>
            </a:pPr>
            <a:r>
              <a:t/>
            </a:r>
            <a:endParaRPr sz="3900"/>
          </a:p>
          <a:p>
            <a:pPr indent="0" lvl="0" marL="0" rtl="0" algn="l">
              <a:spcBef>
                <a:spcPts val="0"/>
              </a:spcBef>
              <a:spcAft>
                <a:spcPts val="0"/>
              </a:spcAft>
              <a:buNone/>
            </a:pPr>
            <a:r>
              <a:t/>
            </a:r>
            <a:endParaRPr/>
          </a:p>
        </p:txBody>
      </p:sp>
      <p:sp>
        <p:nvSpPr>
          <p:cNvPr id="87" name="Google Shape;87;p13"/>
          <p:cNvSpPr txBox="1"/>
          <p:nvPr>
            <p:ph idx="1" type="subTitle"/>
          </p:nvPr>
        </p:nvSpPr>
        <p:spPr>
          <a:xfrm>
            <a:off x="729625" y="2766900"/>
            <a:ext cx="7688100" cy="1913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Team: Power Rangers </a:t>
            </a:r>
            <a:endParaRPr/>
          </a:p>
          <a:p>
            <a:pPr indent="0" lvl="0" marL="0" rtl="0" algn="l">
              <a:spcBef>
                <a:spcPts val="0"/>
              </a:spcBef>
              <a:spcAft>
                <a:spcPts val="0"/>
              </a:spcAft>
              <a:buNone/>
            </a:pPr>
            <a:r>
              <a:rPr lang="en"/>
              <a:t>Members: Gurnoor Kaur-2427030134</a:t>
            </a:r>
            <a:endParaRPr/>
          </a:p>
          <a:p>
            <a:pPr indent="0" lvl="0" marL="0" rtl="0" algn="l">
              <a:spcBef>
                <a:spcPts val="0"/>
              </a:spcBef>
              <a:spcAft>
                <a:spcPts val="0"/>
              </a:spcAft>
              <a:buNone/>
            </a:pPr>
            <a:r>
              <a:rPr lang="en"/>
              <a:t>                        Srishti Pilania-2427030095</a:t>
            </a:r>
            <a:endParaRPr/>
          </a:p>
          <a:p>
            <a:pPr indent="0" lvl="0" marL="0" rtl="0" algn="l">
              <a:spcBef>
                <a:spcPts val="0"/>
              </a:spcBef>
              <a:spcAft>
                <a:spcPts val="0"/>
              </a:spcAft>
              <a:buNone/>
            </a:pPr>
            <a:r>
              <a:rPr lang="en"/>
              <a:t>                        Ananya Sharma-2427030109</a:t>
            </a:r>
            <a:endParaRPr/>
          </a:p>
          <a:p>
            <a:pPr indent="0" lvl="0" marL="0" rtl="0" algn="l">
              <a:spcBef>
                <a:spcPts val="0"/>
              </a:spcBef>
              <a:spcAft>
                <a:spcPts val="0"/>
              </a:spcAft>
              <a:buNone/>
            </a:pPr>
            <a:r>
              <a:rPr lang="en"/>
              <a:t>                        Kanakpreet Kaur- 2427030168</a:t>
            </a:r>
            <a:endParaRPr/>
          </a:p>
        </p:txBody>
      </p:sp>
      <p:sp>
        <p:nvSpPr>
          <p:cNvPr id="88" name="Google Shape;88;p13"/>
          <p:cNvSpPr txBox="1"/>
          <p:nvPr/>
        </p:nvSpPr>
        <p:spPr>
          <a:xfrm>
            <a:off x="160300" y="613325"/>
            <a:ext cx="89976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chemeClr val="dk2"/>
                </a:solidFill>
                <a:latin typeface="Lato"/>
                <a:ea typeface="Lato"/>
                <a:cs typeface="Lato"/>
                <a:sym typeface="Lato"/>
              </a:rPr>
              <a:t>SYNERGY-2026</a:t>
            </a:r>
            <a:endParaRPr b="1" sz="2400">
              <a:solidFill>
                <a:schemeClr val="dk2"/>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450850" y="292800"/>
            <a:ext cx="6823500" cy="9042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200">
                <a:solidFill>
                  <a:schemeClr val="dk2"/>
                </a:solidFill>
              </a:rPr>
              <a:t>Problem Statement</a:t>
            </a:r>
            <a:endParaRPr sz="3200">
              <a:solidFill>
                <a:schemeClr val="dk2"/>
              </a:solidFill>
            </a:endParaRPr>
          </a:p>
        </p:txBody>
      </p:sp>
      <p:sp>
        <p:nvSpPr>
          <p:cNvPr id="94" name="Google Shape;94;p14"/>
          <p:cNvSpPr txBox="1"/>
          <p:nvPr/>
        </p:nvSpPr>
        <p:spPr>
          <a:xfrm>
            <a:off x="450850" y="456500"/>
            <a:ext cx="8541000" cy="389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sz="28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2800">
                <a:latin typeface="Times New Roman"/>
                <a:ea typeface="Times New Roman"/>
                <a:cs typeface="Times New Roman"/>
                <a:sym typeface="Times New Roman"/>
              </a:rPr>
              <a:t>Production incidents require postmortems, but writing them manually from messy logs and notes is slow and often skipped  causing teams to repeat the same failures. Our tool uses an LLM to auto-generate a structured postmortem draft, saving hours of work.</a:t>
            </a:r>
            <a:endParaRPr sz="2800">
              <a:latin typeface="Times New Roman"/>
              <a:ea typeface="Times New Roman"/>
              <a:cs typeface="Times New Roman"/>
              <a:sym typeface="Times New Roman"/>
            </a:endParaRPr>
          </a:p>
          <a:p>
            <a:pPr indent="0" lvl="0" marL="12700" rtl="0" algn="just">
              <a:lnSpc>
                <a:spcPct val="115000"/>
              </a:lnSpc>
              <a:spcBef>
                <a:spcPts val="1200"/>
              </a:spcBef>
              <a:spcAft>
                <a:spcPts val="1200"/>
              </a:spcAft>
              <a:buNone/>
            </a:pPr>
            <a:r>
              <a:t/>
            </a:r>
            <a:endParaRPr sz="28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411200" y="414675"/>
            <a:ext cx="8593500" cy="4474500"/>
          </a:xfrm>
          <a:prstGeom prst="rect">
            <a:avLst/>
          </a:prstGeom>
        </p:spPr>
        <p:txBody>
          <a:bodyPr anchorCtr="0" anchor="ctr" bIns="91425" lIns="91425" spcFirstLastPara="1" rIns="91425" wrap="square" tIns="91425">
            <a:normAutofit fontScale="90000"/>
          </a:bodyPr>
          <a:lstStyle/>
          <a:p>
            <a:pPr indent="0" lvl="0" marL="0" rtl="0" algn="l">
              <a:lnSpc>
                <a:spcPct val="150000"/>
              </a:lnSpc>
              <a:spcBef>
                <a:spcPts val="0"/>
              </a:spcBef>
              <a:spcAft>
                <a:spcPts val="0"/>
              </a:spcAft>
              <a:buNone/>
            </a:pPr>
            <a:r>
              <a:rPr lang="en" sz="2800">
                <a:solidFill>
                  <a:srgbClr val="000000"/>
                </a:solidFill>
                <a:latin typeface="Times New Roman"/>
                <a:ea typeface="Times New Roman"/>
                <a:cs typeface="Times New Roman"/>
                <a:sym typeface="Times New Roman"/>
              </a:rPr>
              <a:t>Proposed Solution:</a:t>
            </a:r>
            <a:r>
              <a:rPr b="0" lang="en" sz="1100">
                <a:solidFill>
                  <a:srgbClr val="000000"/>
                </a:solidFill>
                <a:latin typeface="Arial"/>
                <a:ea typeface="Arial"/>
                <a:cs typeface="Arial"/>
                <a:sym typeface="Arial"/>
              </a:rPr>
              <a:t> </a:t>
            </a:r>
            <a:endParaRPr b="0" sz="1100">
              <a:solidFill>
                <a:srgbClr val="000000"/>
              </a:solidFill>
              <a:latin typeface="Arial"/>
              <a:ea typeface="Arial"/>
              <a:cs typeface="Arial"/>
              <a:sym typeface="Arial"/>
            </a:endParaRPr>
          </a:p>
          <a:p>
            <a:pPr indent="0" lvl="0" marL="0" rtl="0" algn="l">
              <a:lnSpc>
                <a:spcPct val="150000"/>
              </a:lnSpc>
              <a:spcBef>
                <a:spcPts val="0"/>
              </a:spcBef>
              <a:spcAft>
                <a:spcPts val="0"/>
              </a:spcAft>
              <a:buNone/>
            </a:pPr>
            <a:r>
              <a:rPr b="0" lang="en" sz="1800">
                <a:solidFill>
                  <a:srgbClr val="000000"/>
                </a:solidFill>
                <a:latin typeface="Times New Roman"/>
                <a:ea typeface="Times New Roman"/>
                <a:cs typeface="Times New Roman"/>
                <a:sym typeface="Times New Roman"/>
              </a:rPr>
              <a:t>Our tool takes raw alert logs and on-call notes and uses an LLM to automatically generate a structured postmortem draft  including summary, timeline, root cause, impact, and action items. This matters because postmortems are often delayed or skipped when writing them is slow, causing teams to lose critical learnings and repeat the same failures.</a:t>
            </a:r>
            <a:endParaRPr b="0" sz="1800">
              <a:solidFill>
                <a:srgbClr val="000000"/>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lang="en" sz="2800">
                <a:solidFill>
                  <a:srgbClr val="000000"/>
                </a:solidFill>
                <a:latin typeface="Times New Roman"/>
                <a:ea typeface="Times New Roman"/>
                <a:cs typeface="Times New Roman"/>
                <a:sym typeface="Times New Roman"/>
              </a:rPr>
              <a:t>Innovation:</a:t>
            </a:r>
            <a:endParaRPr sz="2800">
              <a:solidFill>
                <a:srgbClr val="000000"/>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b="0" lang="en" sz="1800">
                <a:solidFill>
                  <a:srgbClr val="000000"/>
                </a:solidFill>
                <a:latin typeface="Times New Roman"/>
                <a:ea typeface="Times New Roman"/>
                <a:cs typeface="Times New Roman"/>
                <a:sym typeface="Times New Roman"/>
              </a:rPr>
              <a:t>The output isn't just a text summary  it's a structured document with clearly separated fields:category,company,link, description, and score that evaluates output quality against real postmortems used as reference. Because it's structured (JSON), it can be directly rendered into an editable report in the UI, stored, searched, or exported not just read once and forgotten.</a:t>
            </a:r>
            <a:endParaRPr b="0" sz="1800">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864300"/>
            <a:ext cx="8097300" cy="35022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 sz="2300">
                <a:solidFill>
                  <a:srgbClr val="000000"/>
                </a:solidFill>
                <a:latin typeface="Times"/>
                <a:ea typeface="Times"/>
                <a:cs typeface="Times"/>
                <a:sym typeface="Times"/>
              </a:rPr>
              <a:t>Technical Feasibility:</a:t>
            </a:r>
            <a:endParaRPr sz="2300">
              <a:solidFill>
                <a:srgbClr val="000000"/>
              </a:solidFill>
              <a:latin typeface="Times"/>
              <a:ea typeface="Times"/>
              <a:cs typeface="Times"/>
              <a:sym typeface="Times"/>
            </a:endParaRPr>
          </a:p>
          <a:p>
            <a:pPr indent="-336550" lvl="0" marL="457200" rtl="0" algn="l">
              <a:lnSpc>
                <a:spcPct val="115000"/>
              </a:lnSpc>
              <a:spcBef>
                <a:spcPts val="1200"/>
              </a:spcBef>
              <a:spcAft>
                <a:spcPts val="0"/>
              </a:spcAft>
              <a:buClr>
                <a:srgbClr val="000000"/>
              </a:buClr>
              <a:buSzPts val="1700"/>
              <a:buFont typeface="Arial"/>
              <a:buChar char="●"/>
            </a:pPr>
            <a:r>
              <a:rPr lang="en" sz="1700">
                <a:solidFill>
                  <a:srgbClr val="000000"/>
                </a:solidFill>
                <a:latin typeface="Times"/>
                <a:ea typeface="Times"/>
                <a:cs typeface="Times"/>
                <a:sym typeface="Times"/>
              </a:rPr>
              <a:t>Built on Gemini API</a:t>
            </a:r>
            <a:r>
              <a:rPr b="0" lang="en" sz="1700">
                <a:solidFill>
                  <a:srgbClr val="000000"/>
                </a:solidFill>
                <a:latin typeface="Times"/>
                <a:ea typeface="Times"/>
                <a:cs typeface="Times"/>
                <a:sym typeface="Times"/>
              </a:rPr>
              <a:t> : no model training or custom ML infra needed, realistic for the hackathon timeframe</a:t>
            </a:r>
            <a:endParaRPr b="0" sz="1700">
              <a:solidFill>
                <a:srgbClr val="000000"/>
              </a:solidFill>
              <a:latin typeface="Times"/>
              <a:ea typeface="Times"/>
              <a:cs typeface="Times"/>
              <a:sym typeface="Times"/>
            </a:endParaRPr>
          </a:p>
          <a:p>
            <a:pPr indent="-336550" lvl="0" marL="457200" rtl="0" algn="l">
              <a:lnSpc>
                <a:spcPct val="115000"/>
              </a:lnSpc>
              <a:spcBef>
                <a:spcPts val="0"/>
              </a:spcBef>
              <a:spcAft>
                <a:spcPts val="0"/>
              </a:spcAft>
              <a:buClr>
                <a:srgbClr val="000000"/>
              </a:buClr>
              <a:buSzPts val="1700"/>
              <a:buFont typeface="Arial"/>
              <a:buChar char="●"/>
            </a:pPr>
            <a:r>
              <a:rPr lang="en" sz="1700">
                <a:solidFill>
                  <a:srgbClr val="000000"/>
                </a:solidFill>
                <a:latin typeface="Times"/>
                <a:ea typeface="Times"/>
                <a:cs typeface="Times"/>
                <a:sym typeface="Times"/>
              </a:rPr>
              <a:t>Reliability engineering around the LLM</a:t>
            </a:r>
            <a:r>
              <a:rPr b="0" lang="en" sz="1700">
                <a:solidFill>
                  <a:srgbClr val="000000"/>
                </a:solidFill>
                <a:latin typeface="Times"/>
                <a:ea typeface="Times"/>
                <a:cs typeface="Times"/>
                <a:sym typeface="Times"/>
              </a:rPr>
              <a:t> : strict JSON schema, output validation, and data normalization so the app doesn't break on messy or malformed input</a:t>
            </a:r>
            <a:endParaRPr b="0" sz="1700">
              <a:solidFill>
                <a:srgbClr val="000000"/>
              </a:solidFill>
              <a:latin typeface="Times"/>
              <a:ea typeface="Times"/>
              <a:cs typeface="Times"/>
              <a:sym typeface="Times"/>
            </a:endParaRPr>
          </a:p>
          <a:p>
            <a:pPr indent="-336550" lvl="0" marL="457200" rtl="0" algn="l">
              <a:lnSpc>
                <a:spcPct val="115000"/>
              </a:lnSpc>
              <a:spcBef>
                <a:spcPts val="0"/>
              </a:spcBef>
              <a:spcAft>
                <a:spcPts val="0"/>
              </a:spcAft>
              <a:buClr>
                <a:srgbClr val="000000"/>
              </a:buClr>
              <a:buSzPts val="1700"/>
              <a:buFont typeface="Arial"/>
              <a:buChar char="●"/>
            </a:pPr>
            <a:r>
              <a:rPr lang="en" sz="1700">
                <a:solidFill>
                  <a:srgbClr val="000000"/>
                </a:solidFill>
                <a:latin typeface="Times"/>
                <a:ea typeface="Times"/>
                <a:cs typeface="Times"/>
                <a:sym typeface="Times"/>
              </a:rPr>
              <a:t>Already validated</a:t>
            </a:r>
            <a:r>
              <a:rPr b="0" lang="en" sz="1700">
                <a:solidFill>
                  <a:srgbClr val="000000"/>
                </a:solidFill>
                <a:latin typeface="Times"/>
                <a:ea typeface="Times"/>
                <a:cs typeface="Times"/>
                <a:sym typeface="Times"/>
              </a:rPr>
              <a:t> : working parser tested on 227 real postmortems, plus a tested prompt template producing structured output</a:t>
            </a:r>
            <a:endParaRPr b="0" sz="1700">
              <a:solidFill>
                <a:srgbClr val="000000"/>
              </a:solidFill>
              <a:latin typeface="Times"/>
              <a:ea typeface="Times"/>
              <a:cs typeface="Times"/>
              <a:sym typeface="Times"/>
            </a:endParaRPr>
          </a:p>
          <a:p>
            <a:pPr indent="-336550" lvl="0" marL="457200" rtl="0" algn="l">
              <a:lnSpc>
                <a:spcPct val="115000"/>
              </a:lnSpc>
              <a:spcBef>
                <a:spcPts val="0"/>
              </a:spcBef>
              <a:spcAft>
                <a:spcPts val="0"/>
              </a:spcAft>
              <a:buClr>
                <a:srgbClr val="000000"/>
              </a:buClr>
              <a:buSzPts val="1700"/>
              <a:buFont typeface="Arial"/>
              <a:buChar char="●"/>
            </a:pPr>
            <a:r>
              <a:rPr lang="en" sz="1700">
                <a:solidFill>
                  <a:srgbClr val="000000"/>
                </a:solidFill>
                <a:latin typeface="Times"/>
                <a:ea typeface="Times"/>
                <a:cs typeface="Times"/>
                <a:sym typeface="Times"/>
              </a:rPr>
              <a:t>Low technical risk</a:t>
            </a:r>
            <a:r>
              <a:rPr b="0" lang="en" sz="1700">
                <a:solidFill>
                  <a:srgbClr val="000000"/>
                </a:solidFill>
                <a:latin typeface="Times"/>
                <a:ea typeface="Times"/>
                <a:cs typeface="Times"/>
                <a:sym typeface="Times"/>
              </a:rPr>
              <a:t> : standard REST API calls, no complex deployment or infrastructure</a:t>
            </a:r>
            <a:endParaRPr b="0" sz="1700">
              <a:solidFill>
                <a:srgbClr val="000000"/>
              </a:solidFill>
              <a:latin typeface="Times"/>
              <a:ea typeface="Times"/>
              <a:cs typeface="Times"/>
              <a:sym typeface="Times"/>
            </a:endParaRPr>
          </a:p>
          <a:p>
            <a:pPr indent="0" lvl="0" marL="0" rtl="0" algn="l">
              <a:spcBef>
                <a:spcPts val="12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729450" y="359850"/>
            <a:ext cx="7181100" cy="38730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2611">
                <a:solidFill>
                  <a:schemeClr val="dk2"/>
                </a:solidFill>
                <a:latin typeface="Times"/>
                <a:ea typeface="Times"/>
                <a:cs typeface="Times"/>
                <a:sym typeface="Times"/>
              </a:rPr>
              <a:t>Solution Architecture &amp; Design</a:t>
            </a:r>
            <a:r>
              <a:rPr lang="en" sz="3711">
                <a:latin typeface="Times"/>
                <a:ea typeface="Times"/>
                <a:cs typeface="Times"/>
                <a:sym typeface="Times"/>
              </a:rPr>
              <a:t> </a:t>
            </a:r>
            <a:endParaRPr sz="3711">
              <a:latin typeface="Times"/>
              <a:ea typeface="Times"/>
              <a:cs typeface="Times"/>
              <a:sym typeface="Times"/>
            </a:endParaRPr>
          </a:p>
          <a:p>
            <a:pPr indent="0" lvl="0" marL="0" rtl="0" algn="l">
              <a:spcBef>
                <a:spcPts val="0"/>
              </a:spcBef>
              <a:spcAft>
                <a:spcPts val="0"/>
              </a:spcAft>
              <a:buNone/>
            </a:pPr>
            <a:r>
              <a:rPr b="0" lang="en" sz="1800">
                <a:solidFill>
                  <a:schemeClr val="dk2"/>
                </a:solidFill>
                <a:latin typeface="Times"/>
                <a:ea typeface="Times"/>
                <a:cs typeface="Times"/>
                <a:sym typeface="Times"/>
              </a:rPr>
              <a:t>End-to-end pipeline: raw signal in, evaluated postmortem out </a:t>
            </a:r>
            <a:endParaRPr b="0" sz="1800">
              <a:solidFill>
                <a:schemeClr val="dk2"/>
              </a:solidFill>
              <a:latin typeface="Times"/>
              <a:ea typeface="Times"/>
              <a:cs typeface="Times"/>
              <a:sym typeface="Times"/>
            </a:endParaRPr>
          </a:p>
          <a:p>
            <a:pPr indent="0" lvl="0" marL="0" rtl="0" algn="l">
              <a:spcBef>
                <a:spcPts val="0"/>
              </a:spcBef>
              <a:spcAft>
                <a:spcPts val="0"/>
              </a:spcAft>
              <a:buNone/>
            </a:pPr>
            <a:r>
              <a:t/>
            </a:r>
            <a:endParaRPr sz="1800">
              <a:solidFill>
                <a:schemeClr val="dk2"/>
              </a:solidFill>
              <a:latin typeface="Times"/>
              <a:ea typeface="Times"/>
              <a:cs typeface="Times"/>
              <a:sym typeface="Times"/>
            </a:endParaRPr>
          </a:p>
          <a:p>
            <a:pPr indent="-328930" lvl="0" marL="457200" rtl="0" algn="l">
              <a:spcBef>
                <a:spcPts val="0"/>
              </a:spcBef>
              <a:spcAft>
                <a:spcPts val="0"/>
              </a:spcAft>
              <a:buClr>
                <a:srgbClr val="000000"/>
              </a:buClr>
              <a:buSzPct val="100000"/>
              <a:buFont typeface="Arial"/>
              <a:buChar char="●"/>
            </a:pPr>
            <a:r>
              <a:rPr lang="en" sz="1756">
                <a:solidFill>
                  <a:srgbClr val="000000"/>
                </a:solidFill>
                <a:latin typeface="Times"/>
                <a:ea typeface="Times"/>
                <a:cs typeface="Times"/>
                <a:sym typeface="Times"/>
              </a:rPr>
              <a:t>Raw Incident Signal</a:t>
            </a:r>
            <a:r>
              <a:rPr b="0" lang="en" sz="1756">
                <a:solidFill>
                  <a:srgbClr val="000000"/>
                </a:solidFill>
                <a:latin typeface="Times"/>
                <a:ea typeface="Times"/>
                <a:cs typeface="Times"/>
                <a:sym typeface="Times"/>
              </a:rPr>
              <a:t> : Input layer. Alert logs, timeline notes, and monitoring snippets extracted from real incident data (danluu/post-mortems) form the starting facts for each case.</a:t>
            </a:r>
            <a:endParaRPr b="0" sz="1756">
              <a:solidFill>
                <a:srgbClr val="000000"/>
              </a:solidFill>
              <a:latin typeface="Times"/>
              <a:ea typeface="Times"/>
              <a:cs typeface="Times"/>
              <a:sym typeface="Times"/>
            </a:endParaRPr>
          </a:p>
          <a:p>
            <a:pPr indent="-328930" lvl="0" marL="457200" rtl="0" algn="l">
              <a:spcBef>
                <a:spcPts val="0"/>
              </a:spcBef>
              <a:spcAft>
                <a:spcPts val="0"/>
              </a:spcAft>
              <a:buClr>
                <a:srgbClr val="000000"/>
              </a:buClr>
              <a:buSzPct val="100000"/>
              <a:buFont typeface="Arial"/>
              <a:buChar char="●"/>
            </a:pPr>
            <a:r>
              <a:rPr lang="en" sz="1756">
                <a:solidFill>
                  <a:srgbClr val="000000"/>
                </a:solidFill>
                <a:latin typeface="Times"/>
                <a:ea typeface="Times"/>
                <a:cs typeface="Times"/>
                <a:sym typeface="Times"/>
              </a:rPr>
              <a:t>LLM Generation Layer</a:t>
            </a:r>
            <a:r>
              <a:rPr b="0" lang="en" sz="1756">
                <a:solidFill>
                  <a:srgbClr val="000000"/>
                </a:solidFill>
                <a:latin typeface="Times"/>
                <a:ea typeface="Times"/>
                <a:cs typeface="Times"/>
                <a:sym typeface="Times"/>
              </a:rPr>
              <a:t> :Core IP. A structured prompt template sends the raw signal to the LLM (Gemini API), which returns a strict JSON output.</a:t>
            </a:r>
            <a:endParaRPr b="0" sz="1756">
              <a:solidFill>
                <a:srgbClr val="000000"/>
              </a:solidFill>
              <a:latin typeface="Times"/>
              <a:ea typeface="Times"/>
              <a:cs typeface="Times"/>
              <a:sym typeface="Times"/>
            </a:endParaRPr>
          </a:p>
          <a:p>
            <a:pPr indent="-328930" lvl="0" marL="457200" rtl="0" algn="l">
              <a:spcBef>
                <a:spcPts val="0"/>
              </a:spcBef>
              <a:spcAft>
                <a:spcPts val="0"/>
              </a:spcAft>
              <a:buClr>
                <a:srgbClr val="000000"/>
              </a:buClr>
              <a:buSzPct val="100000"/>
              <a:buFont typeface="Arial"/>
              <a:buChar char="●"/>
            </a:pPr>
            <a:r>
              <a:rPr lang="en" sz="1756">
                <a:solidFill>
                  <a:srgbClr val="000000"/>
                </a:solidFill>
                <a:latin typeface="Times"/>
                <a:ea typeface="Times"/>
                <a:cs typeface="Times"/>
                <a:sym typeface="Times"/>
              </a:rPr>
              <a:t>Structured Postmortem</a:t>
            </a:r>
            <a:r>
              <a:rPr b="0" lang="en" sz="1756">
                <a:solidFill>
                  <a:srgbClr val="000000"/>
                </a:solidFill>
                <a:latin typeface="Times"/>
                <a:ea typeface="Times"/>
                <a:cs typeface="Times"/>
                <a:sym typeface="Times"/>
              </a:rPr>
              <a:t> : Output layer. The generated draft is broken into standard fields: summary, root cause, timeline, and action items,mirroring how real engineers write postmortems.</a:t>
            </a:r>
            <a:endParaRPr b="0" sz="1756">
              <a:solidFill>
                <a:srgbClr val="000000"/>
              </a:solidFill>
              <a:latin typeface="Times"/>
              <a:ea typeface="Times"/>
              <a:cs typeface="Times"/>
              <a:sym typeface="Times"/>
            </a:endParaRPr>
          </a:p>
          <a:p>
            <a:pPr indent="-328930" lvl="0" marL="457200" rtl="0" algn="l">
              <a:spcBef>
                <a:spcPts val="0"/>
              </a:spcBef>
              <a:spcAft>
                <a:spcPts val="0"/>
              </a:spcAft>
              <a:buClr>
                <a:srgbClr val="000000"/>
              </a:buClr>
              <a:buSzPct val="100000"/>
              <a:buFont typeface="Arial"/>
              <a:buChar char="●"/>
            </a:pPr>
            <a:r>
              <a:rPr lang="en" sz="1756">
                <a:solidFill>
                  <a:srgbClr val="000000"/>
                </a:solidFill>
                <a:latin typeface="Times"/>
                <a:ea typeface="Times"/>
                <a:cs typeface="Times"/>
                <a:sym typeface="Times"/>
              </a:rPr>
              <a:t>Evaluation Engine</a:t>
            </a:r>
            <a:r>
              <a:rPr b="0" lang="en" sz="1756">
                <a:solidFill>
                  <a:srgbClr val="000000"/>
                </a:solidFill>
                <a:latin typeface="Times"/>
                <a:ea typeface="Times"/>
                <a:cs typeface="Times"/>
                <a:sym typeface="Times"/>
              </a:rPr>
              <a:t> : Validation layer. The generated draft is scored against the real postmortem for that incident using similarity metrics + an LLM-as-judge, producing an objective benchmark score.</a:t>
            </a:r>
            <a:endParaRPr b="0" sz="1756">
              <a:solidFill>
                <a:srgbClr val="000000"/>
              </a:solidFill>
              <a:latin typeface="Times"/>
              <a:ea typeface="Times"/>
              <a:cs typeface="Times"/>
              <a:sym typeface="Times"/>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5328925" y="387350"/>
            <a:ext cx="3504000" cy="433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0" lang="en" sz="1500">
                <a:solidFill>
                  <a:schemeClr val="dk2"/>
                </a:solidFill>
                <a:latin typeface="Times"/>
                <a:ea typeface="Times"/>
                <a:cs typeface="Times"/>
                <a:sym typeface="Times"/>
              </a:rPr>
              <a:t>Each incident flows through four stages: from raw signal to a scored, structured postmortem ;giving both a usable draft and a measurable quality benchmark.</a:t>
            </a:r>
            <a:endParaRPr b="0" sz="1500">
              <a:solidFill>
                <a:schemeClr val="dk2"/>
              </a:solidFill>
              <a:latin typeface="Times"/>
              <a:ea typeface="Times"/>
              <a:cs typeface="Times"/>
              <a:sym typeface="Times"/>
            </a:endParaRPr>
          </a:p>
        </p:txBody>
      </p:sp>
      <p:pic>
        <p:nvPicPr>
          <p:cNvPr id="115" name="Google Shape;115;p18"/>
          <p:cNvPicPr preferRelativeResize="0"/>
          <p:nvPr/>
        </p:nvPicPr>
        <p:blipFill>
          <a:blip r:embed="rId3">
            <a:alphaModFix/>
          </a:blip>
          <a:stretch>
            <a:fillRect/>
          </a:stretch>
        </p:blipFill>
        <p:spPr>
          <a:xfrm>
            <a:off x="164675" y="298400"/>
            <a:ext cx="4904399" cy="4625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729450" y="895575"/>
            <a:ext cx="7021200" cy="32094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 sz="2200">
                <a:solidFill>
                  <a:srgbClr val="000000"/>
                </a:solidFill>
                <a:latin typeface="Times"/>
                <a:ea typeface="Times"/>
                <a:cs typeface="Times"/>
                <a:sym typeface="Times"/>
              </a:rPr>
              <a:t>Initial Progress:</a:t>
            </a:r>
            <a:endParaRPr sz="2200">
              <a:solidFill>
                <a:srgbClr val="000000"/>
              </a:solidFill>
              <a:latin typeface="Times"/>
              <a:ea typeface="Times"/>
              <a:cs typeface="Times"/>
              <a:sym typeface="Times"/>
            </a:endParaRPr>
          </a:p>
          <a:p>
            <a:pPr indent="-336550" lvl="0" marL="457200" rtl="0" algn="l">
              <a:lnSpc>
                <a:spcPct val="100000"/>
              </a:lnSpc>
              <a:spcBef>
                <a:spcPts val="1200"/>
              </a:spcBef>
              <a:spcAft>
                <a:spcPts val="0"/>
              </a:spcAft>
              <a:buClr>
                <a:srgbClr val="000000"/>
              </a:buClr>
              <a:buSzPts val="1700"/>
              <a:buFont typeface="Arial"/>
              <a:buChar char="●"/>
            </a:pPr>
            <a:r>
              <a:rPr lang="en" sz="1700">
                <a:solidFill>
                  <a:srgbClr val="000000"/>
                </a:solidFill>
                <a:latin typeface="Times"/>
                <a:ea typeface="Times"/>
                <a:cs typeface="Times"/>
                <a:sym typeface="Times"/>
              </a:rPr>
              <a:t>GitHub repo live</a:t>
            </a:r>
            <a:r>
              <a:rPr b="0" lang="en" sz="1700">
                <a:solidFill>
                  <a:srgbClr val="000000"/>
                </a:solidFill>
                <a:latin typeface="Times"/>
                <a:ea typeface="Times"/>
                <a:cs typeface="Times"/>
                <a:sym typeface="Times"/>
              </a:rPr>
              <a:t> : structured folders: </a:t>
            </a:r>
            <a:r>
              <a:rPr b="0" lang="en" sz="1700">
                <a:solidFill>
                  <a:srgbClr val="188038"/>
                </a:solidFill>
                <a:latin typeface="Times"/>
                <a:ea typeface="Times"/>
                <a:cs typeface="Times"/>
                <a:sym typeface="Times"/>
              </a:rPr>
              <a:t>/backend</a:t>
            </a:r>
            <a:r>
              <a:rPr b="0" lang="en" sz="1700">
                <a:solidFill>
                  <a:srgbClr val="000000"/>
                </a:solidFill>
                <a:latin typeface="Times"/>
                <a:ea typeface="Times"/>
                <a:cs typeface="Times"/>
                <a:sym typeface="Times"/>
              </a:rPr>
              <a:t>, </a:t>
            </a:r>
            <a:r>
              <a:rPr b="0" lang="en" sz="1700">
                <a:solidFill>
                  <a:srgbClr val="188038"/>
                </a:solidFill>
                <a:latin typeface="Times"/>
                <a:ea typeface="Times"/>
                <a:cs typeface="Times"/>
                <a:sym typeface="Times"/>
              </a:rPr>
              <a:t>/frontend</a:t>
            </a:r>
            <a:r>
              <a:rPr b="0" lang="en" sz="1700">
                <a:solidFill>
                  <a:srgbClr val="000000"/>
                </a:solidFill>
                <a:latin typeface="Times"/>
                <a:ea typeface="Times"/>
                <a:cs typeface="Times"/>
                <a:sym typeface="Times"/>
              </a:rPr>
              <a:t>, </a:t>
            </a:r>
            <a:r>
              <a:rPr b="0" lang="en" sz="1700">
                <a:solidFill>
                  <a:srgbClr val="188038"/>
                </a:solidFill>
                <a:latin typeface="Times"/>
                <a:ea typeface="Times"/>
                <a:cs typeface="Times"/>
                <a:sym typeface="Times"/>
              </a:rPr>
              <a:t>/data</a:t>
            </a:r>
            <a:r>
              <a:rPr b="0" lang="en" sz="1700">
                <a:solidFill>
                  <a:srgbClr val="000000"/>
                </a:solidFill>
                <a:latin typeface="Times"/>
                <a:ea typeface="Times"/>
                <a:cs typeface="Times"/>
                <a:sym typeface="Times"/>
              </a:rPr>
              <a:t>, </a:t>
            </a:r>
            <a:r>
              <a:rPr b="0" lang="en" sz="1700">
                <a:solidFill>
                  <a:srgbClr val="188038"/>
                </a:solidFill>
                <a:latin typeface="Times"/>
                <a:ea typeface="Times"/>
                <a:cs typeface="Times"/>
                <a:sym typeface="Times"/>
              </a:rPr>
              <a:t>/docs</a:t>
            </a:r>
            <a:endParaRPr b="0" sz="1700">
              <a:solidFill>
                <a:srgbClr val="188038"/>
              </a:solidFill>
              <a:latin typeface="Times"/>
              <a:ea typeface="Times"/>
              <a:cs typeface="Times"/>
              <a:sym typeface="Times"/>
            </a:endParaRPr>
          </a:p>
          <a:p>
            <a:pPr indent="-336550" lvl="0" marL="457200" rtl="0" algn="l">
              <a:lnSpc>
                <a:spcPct val="100000"/>
              </a:lnSpc>
              <a:spcBef>
                <a:spcPts val="1200"/>
              </a:spcBef>
              <a:spcAft>
                <a:spcPts val="0"/>
              </a:spcAft>
              <a:buClr>
                <a:srgbClr val="000000"/>
              </a:buClr>
              <a:buSzPts val="1700"/>
              <a:buFont typeface="Arial"/>
              <a:buChar char="●"/>
            </a:pPr>
            <a:r>
              <a:rPr lang="en" sz="1700">
                <a:solidFill>
                  <a:srgbClr val="000000"/>
                </a:solidFill>
                <a:latin typeface="Times"/>
                <a:ea typeface="Times"/>
                <a:cs typeface="Times"/>
                <a:sym typeface="Times"/>
              </a:rPr>
              <a:t>Data pipeline built &amp; tested</a:t>
            </a:r>
            <a:r>
              <a:rPr b="0" lang="en" sz="1700">
                <a:solidFill>
                  <a:srgbClr val="000000"/>
                </a:solidFill>
                <a:latin typeface="Times"/>
                <a:ea typeface="Times"/>
                <a:cs typeface="Times"/>
                <a:sym typeface="Times"/>
              </a:rPr>
              <a:t> : parsed 227 real postmortems from a public dataset into structured JSON</a:t>
            </a:r>
            <a:endParaRPr b="0" sz="1700">
              <a:solidFill>
                <a:srgbClr val="000000"/>
              </a:solidFill>
              <a:latin typeface="Times"/>
              <a:ea typeface="Times"/>
              <a:cs typeface="Times"/>
              <a:sym typeface="Times"/>
            </a:endParaRPr>
          </a:p>
          <a:p>
            <a:pPr indent="-336550" lvl="0" marL="457200" rtl="0" algn="l">
              <a:lnSpc>
                <a:spcPct val="100000"/>
              </a:lnSpc>
              <a:spcBef>
                <a:spcPts val="1200"/>
              </a:spcBef>
              <a:spcAft>
                <a:spcPts val="0"/>
              </a:spcAft>
              <a:buClr>
                <a:srgbClr val="000000"/>
              </a:buClr>
              <a:buSzPts val="1700"/>
              <a:buFont typeface="Arial"/>
              <a:buChar char="●"/>
            </a:pPr>
            <a:r>
              <a:rPr lang="en" sz="1700">
                <a:solidFill>
                  <a:srgbClr val="000000"/>
                </a:solidFill>
                <a:latin typeface="Times"/>
                <a:ea typeface="Times"/>
                <a:cs typeface="Times"/>
                <a:sym typeface="Times"/>
              </a:rPr>
              <a:t>LLM prompt script working</a:t>
            </a:r>
            <a:r>
              <a:rPr b="0" lang="en" sz="1700">
                <a:solidFill>
                  <a:srgbClr val="000000"/>
                </a:solidFill>
                <a:latin typeface="Times"/>
                <a:ea typeface="Times"/>
                <a:cs typeface="Times"/>
                <a:sym typeface="Times"/>
              </a:rPr>
              <a:t> :raw input → validated structured postmortem JSON</a:t>
            </a:r>
            <a:endParaRPr b="0" sz="1700">
              <a:solidFill>
                <a:srgbClr val="000000"/>
              </a:solidFill>
              <a:latin typeface="Times"/>
              <a:ea typeface="Times"/>
              <a:cs typeface="Times"/>
              <a:sym typeface="Times"/>
            </a:endParaRPr>
          </a:p>
          <a:p>
            <a:pPr indent="-336550" lvl="0" marL="457200" rtl="0" algn="l">
              <a:lnSpc>
                <a:spcPct val="100000"/>
              </a:lnSpc>
              <a:spcBef>
                <a:spcPts val="1200"/>
              </a:spcBef>
              <a:spcAft>
                <a:spcPts val="0"/>
              </a:spcAft>
              <a:buClr>
                <a:srgbClr val="000000"/>
              </a:buClr>
              <a:buSzPts val="1700"/>
              <a:buFont typeface="Arial"/>
              <a:buChar char="●"/>
            </a:pPr>
            <a:r>
              <a:rPr lang="en" sz="1700">
                <a:solidFill>
                  <a:srgbClr val="000000"/>
                </a:solidFill>
                <a:latin typeface="Times"/>
                <a:ea typeface="Times"/>
                <a:cs typeface="Times"/>
                <a:sym typeface="Times"/>
              </a:rPr>
              <a:t>Wireframes ready</a:t>
            </a:r>
            <a:r>
              <a:rPr b="0" lang="en" sz="1700">
                <a:solidFill>
                  <a:srgbClr val="000000"/>
                </a:solidFill>
                <a:latin typeface="Times"/>
                <a:ea typeface="Times"/>
                <a:cs typeface="Times"/>
                <a:sym typeface="Times"/>
              </a:rPr>
              <a:t> : input screen + editable report screen + output screen</a:t>
            </a:r>
            <a:endParaRPr b="0" sz="1700">
              <a:solidFill>
                <a:srgbClr val="000000"/>
              </a:solidFill>
              <a:latin typeface="Times"/>
              <a:ea typeface="Times"/>
              <a:cs typeface="Times"/>
              <a:sym typeface="Times"/>
            </a:endParaRPr>
          </a:p>
          <a:p>
            <a:pPr indent="-336550" lvl="0" marL="457200" rtl="0" algn="l">
              <a:lnSpc>
                <a:spcPct val="100000"/>
              </a:lnSpc>
              <a:spcBef>
                <a:spcPts val="1200"/>
              </a:spcBef>
              <a:spcAft>
                <a:spcPts val="0"/>
              </a:spcAft>
              <a:buClr>
                <a:srgbClr val="000000"/>
              </a:buClr>
              <a:buSzPts val="1700"/>
              <a:buFont typeface="Arial"/>
              <a:buChar char="●"/>
            </a:pPr>
            <a:r>
              <a:rPr lang="en" sz="1700">
                <a:solidFill>
                  <a:srgbClr val="000000"/>
                </a:solidFill>
                <a:latin typeface="Times"/>
                <a:ea typeface="Times"/>
                <a:cs typeface="Times"/>
                <a:sym typeface="Times"/>
              </a:rPr>
              <a:t>README documented</a:t>
            </a:r>
            <a:r>
              <a:rPr b="0" lang="en" sz="1700">
                <a:solidFill>
                  <a:srgbClr val="000000"/>
                </a:solidFill>
                <a:latin typeface="Times"/>
                <a:ea typeface="Times"/>
                <a:cs typeface="Times"/>
                <a:sym typeface="Times"/>
              </a:rPr>
              <a:t> : problem statement, architecture, tech stack, status</a:t>
            </a:r>
            <a:endParaRPr b="0" sz="1700">
              <a:solidFill>
                <a:srgbClr val="000000"/>
              </a:solidFill>
              <a:latin typeface="Times"/>
              <a:ea typeface="Times"/>
              <a:cs typeface="Times"/>
              <a:sym typeface="Times"/>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0"/>
          <p:cNvPicPr preferRelativeResize="0"/>
          <p:nvPr/>
        </p:nvPicPr>
        <p:blipFill>
          <a:blip r:embed="rId3">
            <a:alphaModFix/>
          </a:blip>
          <a:stretch>
            <a:fillRect/>
          </a:stretch>
        </p:blipFill>
        <p:spPr>
          <a:xfrm>
            <a:off x="4493650" y="2001012"/>
            <a:ext cx="4496000" cy="2993874"/>
          </a:xfrm>
          <a:prstGeom prst="rect">
            <a:avLst/>
          </a:prstGeom>
          <a:noFill/>
          <a:ln>
            <a:noFill/>
          </a:ln>
        </p:spPr>
      </p:pic>
      <p:pic>
        <p:nvPicPr>
          <p:cNvPr id="126" name="Google Shape;126;p20"/>
          <p:cNvPicPr preferRelativeResize="0"/>
          <p:nvPr/>
        </p:nvPicPr>
        <p:blipFill>
          <a:blip r:embed="rId4">
            <a:alphaModFix/>
          </a:blip>
          <a:stretch>
            <a:fillRect/>
          </a:stretch>
        </p:blipFill>
        <p:spPr>
          <a:xfrm>
            <a:off x="222250" y="2008950"/>
            <a:ext cx="4187826" cy="2978010"/>
          </a:xfrm>
          <a:prstGeom prst="rect">
            <a:avLst/>
          </a:prstGeom>
          <a:noFill/>
          <a:ln>
            <a:noFill/>
          </a:ln>
        </p:spPr>
      </p:pic>
      <p:sp>
        <p:nvSpPr>
          <p:cNvPr id="127" name="Google Shape;127;p20"/>
          <p:cNvSpPr txBox="1"/>
          <p:nvPr/>
        </p:nvSpPr>
        <p:spPr>
          <a:xfrm>
            <a:off x="222250" y="415925"/>
            <a:ext cx="1821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Lato"/>
                <a:ea typeface="Lato"/>
                <a:cs typeface="Lato"/>
                <a:sym typeface="Lato"/>
              </a:rPr>
              <a:t>INITIAL PROGRESS-</a:t>
            </a:r>
            <a:endParaRPr>
              <a:solidFill>
                <a:schemeClr val="dk2"/>
              </a:solidFill>
              <a:latin typeface="Lato"/>
              <a:ea typeface="Lato"/>
              <a:cs typeface="Lato"/>
              <a:sym typeface="Lato"/>
            </a:endParaRPr>
          </a:p>
          <a:p>
            <a:pPr indent="0" lvl="0" marL="0" rtl="0" algn="l">
              <a:spcBef>
                <a:spcPts val="0"/>
              </a:spcBef>
              <a:spcAft>
                <a:spcPts val="0"/>
              </a:spcAft>
              <a:buNone/>
            </a:pPr>
            <a:r>
              <a:rPr lang="en">
                <a:solidFill>
                  <a:schemeClr val="dk2"/>
                </a:solidFill>
                <a:latin typeface="Lato"/>
                <a:ea typeface="Lato"/>
                <a:cs typeface="Lato"/>
                <a:sym typeface="Lato"/>
              </a:rPr>
              <a:t>WIREFRAME:</a:t>
            </a:r>
            <a:endParaRPr>
              <a:solidFill>
                <a:schemeClr val="dk2"/>
              </a:solidFill>
              <a:latin typeface="Lato"/>
              <a:ea typeface="Lato"/>
              <a:cs typeface="Lato"/>
              <a:sym typeface="Lato"/>
            </a:endParaRPr>
          </a:p>
        </p:txBody>
      </p:sp>
      <p:sp>
        <p:nvSpPr>
          <p:cNvPr id="128" name="Google Shape;128;p20"/>
          <p:cNvSpPr txBox="1"/>
          <p:nvPr/>
        </p:nvSpPr>
        <p:spPr>
          <a:xfrm>
            <a:off x="301100" y="1463000"/>
            <a:ext cx="3974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INPUT SCREEN:</a:t>
            </a:r>
            <a:endParaRPr sz="1300">
              <a:solidFill>
                <a:schemeClr val="accent1"/>
              </a:solidFill>
              <a:latin typeface="Lato"/>
              <a:ea typeface="Lato"/>
              <a:cs typeface="Lato"/>
              <a:sym typeface="Lato"/>
            </a:endParaRPr>
          </a:p>
        </p:txBody>
      </p:sp>
      <p:sp>
        <p:nvSpPr>
          <p:cNvPr id="129" name="Google Shape;129;p20"/>
          <p:cNvSpPr txBox="1"/>
          <p:nvPr/>
        </p:nvSpPr>
        <p:spPr>
          <a:xfrm>
            <a:off x="4493650" y="1463000"/>
            <a:ext cx="4656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OUTPUT SCREEN:</a:t>
            </a:r>
            <a:endParaRPr sz="1300">
              <a:solidFill>
                <a:schemeClr val="accen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1"/>
          <p:cNvPicPr preferRelativeResize="0"/>
          <p:nvPr/>
        </p:nvPicPr>
        <p:blipFill>
          <a:blip r:embed="rId3">
            <a:alphaModFix/>
          </a:blip>
          <a:stretch>
            <a:fillRect/>
          </a:stretch>
        </p:blipFill>
        <p:spPr>
          <a:xfrm>
            <a:off x="332975" y="1059175"/>
            <a:ext cx="8246600" cy="3347525"/>
          </a:xfrm>
          <a:prstGeom prst="rect">
            <a:avLst/>
          </a:prstGeom>
          <a:noFill/>
          <a:ln>
            <a:noFill/>
          </a:ln>
        </p:spPr>
      </p:pic>
      <p:sp>
        <p:nvSpPr>
          <p:cNvPr id="135" name="Google Shape;135;p21"/>
          <p:cNvSpPr txBox="1"/>
          <p:nvPr/>
        </p:nvSpPr>
        <p:spPr>
          <a:xfrm>
            <a:off x="375500" y="294025"/>
            <a:ext cx="6992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latin typeface="Lato"/>
                <a:ea typeface="Lato"/>
                <a:cs typeface="Lato"/>
                <a:sym typeface="Lato"/>
              </a:rPr>
              <a:t>PROOF OF CONCEPT:</a:t>
            </a:r>
            <a:endParaRPr sz="1800">
              <a:solidFill>
                <a:schemeClr val="accen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p>
            <a:pPr indent="0" lvl="0" marL="0" rtl="0" algn="l">
              <a:lnSpc>
                <a:spcPct val="115000"/>
              </a:lnSpc>
              <a:spcBef>
                <a:spcPts val="1200"/>
              </a:spcBef>
              <a:spcAft>
                <a:spcPts val="0"/>
              </a:spcAft>
              <a:buNone/>
            </a:pPr>
            <a:r>
              <a:rPr lang="en" sz="1933">
                <a:solidFill>
                  <a:srgbClr val="000000"/>
                </a:solidFill>
                <a:latin typeface="Arial"/>
                <a:ea typeface="Arial"/>
                <a:cs typeface="Arial"/>
                <a:sym typeface="Arial"/>
              </a:rPr>
              <a:t>Team Readiness &amp; Execution Plan</a:t>
            </a:r>
            <a:endParaRPr sz="1933">
              <a:solidFill>
                <a:srgbClr val="000000"/>
              </a:solidFill>
              <a:latin typeface="Arial"/>
              <a:ea typeface="Arial"/>
              <a:cs typeface="Arial"/>
              <a:sym typeface="Arial"/>
            </a:endParaRPr>
          </a:p>
          <a:p>
            <a:pPr indent="-318911" lvl="0" marL="457200" rtl="0" algn="l">
              <a:lnSpc>
                <a:spcPct val="115000"/>
              </a:lnSpc>
              <a:spcBef>
                <a:spcPts val="1200"/>
              </a:spcBef>
              <a:spcAft>
                <a:spcPts val="0"/>
              </a:spcAft>
              <a:buClr>
                <a:srgbClr val="000000"/>
              </a:buClr>
              <a:buSzPts val="1422"/>
              <a:buFont typeface="Arial"/>
              <a:buChar char="●"/>
            </a:pPr>
            <a:r>
              <a:rPr lang="en" sz="1422">
                <a:solidFill>
                  <a:srgbClr val="000000"/>
                </a:solidFill>
                <a:latin typeface="Arial"/>
                <a:ea typeface="Arial"/>
                <a:cs typeface="Arial"/>
                <a:sym typeface="Arial"/>
              </a:rPr>
              <a:t>Coding (2 members)</a:t>
            </a:r>
            <a:r>
              <a:rPr b="0" lang="en" sz="1422">
                <a:solidFill>
                  <a:srgbClr val="000000"/>
                </a:solidFill>
                <a:latin typeface="Arial"/>
                <a:ea typeface="Arial"/>
                <a:cs typeface="Arial"/>
                <a:sym typeface="Arial"/>
              </a:rPr>
              <a:t> - building the data pipeline, LLM prompt script, and backend integration</a:t>
            </a:r>
            <a:endParaRPr b="0" sz="1422">
              <a:solidFill>
                <a:srgbClr val="000000"/>
              </a:solidFill>
              <a:latin typeface="Arial"/>
              <a:ea typeface="Arial"/>
              <a:cs typeface="Arial"/>
              <a:sym typeface="Arial"/>
            </a:endParaRPr>
          </a:p>
          <a:p>
            <a:pPr indent="-318911" lvl="0" marL="457200" rtl="0" algn="l">
              <a:lnSpc>
                <a:spcPct val="115000"/>
              </a:lnSpc>
              <a:spcBef>
                <a:spcPts val="0"/>
              </a:spcBef>
              <a:spcAft>
                <a:spcPts val="0"/>
              </a:spcAft>
              <a:buClr>
                <a:srgbClr val="000000"/>
              </a:buClr>
              <a:buSzPts val="1422"/>
              <a:buFont typeface="Arial"/>
              <a:buChar char="●"/>
            </a:pPr>
            <a:r>
              <a:rPr lang="en" sz="1422">
                <a:solidFill>
                  <a:srgbClr val="000000"/>
                </a:solidFill>
                <a:latin typeface="Arial"/>
                <a:ea typeface="Arial"/>
                <a:cs typeface="Arial"/>
                <a:sym typeface="Arial"/>
              </a:rPr>
              <a:t>Presentation &amp; Docs (2 members)</a:t>
            </a:r>
            <a:r>
              <a:rPr b="0" lang="en" sz="1422">
                <a:solidFill>
                  <a:srgbClr val="000000"/>
                </a:solidFill>
                <a:latin typeface="Arial"/>
                <a:ea typeface="Arial"/>
                <a:cs typeface="Arial"/>
                <a:sym typeface="Arial"/>
              </a:rPr>
              <a:t> -PPT, README, wireframes, and demo prep</a:t>
            </a:r>
            <a:endParaRPr b="0" sz="1422">
              <a:solidFill>
                <a:srgbClr val="000000"/>
              </a:solidFill>
              <a:latin typeface="Arial"/>
              <a:ea typeface="Arial"/>
              <a:cs typeface="Arial"/>
              <a:sym typeface="Arial"/>
            </a:endParaRPr>
          </a:p>
          <a:p>
            <a:pPr indent="-318911" lvl="0" marL="457200" rtl="0" algn="l">
              <a:lnSpc>
                <a:spcPct val="115000"/>
              </a:lnSpc>
              <a:spcBef>
                <a:spcPts val="0"/>
              </a:spcBef>
              <a:spcAft>
                <a:spcPts val="0"/>
              </a:spcAft>
              <a:buClr>
                <a:srgbClr val="000000"/>
              </a:buClr>
              <a:buSzPts val="1422"/>
              <a:buFont typeface="Arial"/>
              <a:buChar char="●"/>
            </a:pPr>
            <a:r>
              <a:rPr lang="en" sz="1422">
                <a:solidFill>
                  <a:srgbClr val="000000"/>
                </a:solidFill>
                <a:latin typeface="Arial"/>
                <a:ea typeface="Arial"/>
                <a:cs typeface="Arial"/>
                <a:sym typeface="Arial"/>
              </a:rPr>
              <a:t>Active GitHub commits</a:t>
            </a:r>
            <a:r>
              <a:rPr b="0" lang="en" sz="1422">
                <a:solidFill>
                  <a:srgbClr val="000000"/>
                </a:solidFill>
                <a:latin typeface="Arial"/>
                <a:ea typeface="Arial"/>
                <a:cs typeface="Arial"/>
                <a:sym typeface="Arial"/>
              </a:rPr>
              <a:t> - from all 4 members, ongoing through both milestones.</a:t>
            </a:r>
            <a:endParaRPr b="0" sz="1422">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dk2"/>
                </a:solidFill>
              </a:rPr>
              <a:t>THANK YOU</a:t>
            </a:r>
            <a:endParaRPr>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